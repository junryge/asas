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SM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L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</p:sldLayoutIdLst>
  <p:txStyles>
    <p:titleStyle>
      <a:lvl1pPr>
        <a:defRPr sz="4400">
          <a:latin typeface="Malgun Gothic"/>
        </a:defRPr>
      </a:lvl1pPr>
    </p:titleStyle>
    <p:bodyStyle>
      <a:lvl1pPr>
        <a:defRPr sz="1800">
          <a:latin typeface="Malgun Gothic"/>
        </a:defRPr>
      </a:lvl1pPr>
    </p:bodyStyle>
    <p:otherStyle>
      <a:lvl1pPr>
        <a:defRPr sz="1800">
          <a:latin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0" y="3977639"/>
            <a:ext cx="12191695" cy="64008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4400" b="1" dirty="0">
                <a:solidFill>
                  <a:srgbClr val="FFFFFF"/>
                </a:solidFill>
                <a:latin typeface="Malgun Gothic"/>
                <a:ea typeface="Malgun Gothic"/>
              </a:rPr>
              <a:t>정체 30분 사전예측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800" b="1" dirty="0">
                <a:solidFill>
                  <a:srgbClr val="5EEAD4"/>
                </a:solidFill>
                <a:latin typeface="Malgun Gothic"/>
                <a:ea typeface="Malgun Gothic"/>
              </a:rPr>
              <a:t>하이브리드 AI 시스템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900" dirty="0">
                <a:solidFill>
                  <a:srgbClr val="CBD5E1"/>
                </a:solidFill>
                <a:latin typeface="Malgun Gothic"/>
                <a:ea typeface="Malgun Gothic"/>
              </a:rPr>
              <a:t>운영자가 정체를 알기 </a:t>
            </a:r>
            <a:r>
              <a:rPr lang="ko-KR" sz="1900" b="1" dirty="0">
                <a:solidFill>
                  <a:srgbClr val="5EEAD4"/>
                </a:solidFill>
                <a:latin typeface="Malgun Gothic"/>
                <a:ea typeface="Malgun Gothic"/>
              </a:rPr>
              <a:t>30분 전</a:t>
            </a:r>
            <a:r>
              <a:rPr lang="ko-KR" sz="1900" dirty="0">
                <a:solidFill>
                  <a:srgbClr val="CBD5E1"/>
                </a:solidFill>
                <a:latin typeface="Malgun Gothic"/>
                <a:ea typeface="Malgun Gothic"/>
              </a:rPr>
              <a:t>, AI가 미리 알린다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300" dirty="0">
                <a:solidFill>
                  <a:srgbClr val="64748B"/>
                </a:solidFill>
                <a:latin typeface="Malgun Gothic"/>
                <a:ea typeface="Malgun Gothic"/>
              </a:rPr>
              <a:t>M16A HUBROOM 반송 정체 예측  ·  2026-07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1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18" name="tb18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1. 지금 무엇이 문제인가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502920" y="1371600"/>
            <a:ext cx="11155680" cy="237744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뒤늦은 발견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정체가 나야 운영자가 알아채고 대응 → 이미 늦음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규칙의 한계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기존 룰(규칙)은 정해진 조건만 봐서 미묘한 전조를 놓침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사전 예측 필요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정체를 미리 안다면 30분 먼저 손 쓸 수 있음</a:t>
            </a:r>
          </a:p>
        </p:txBody>
      </p:sp>
      <p:sp>
        <p:nvSpPr>
          <p:cNvPr id="21" name="r21"/>
          <p:cNvSpPr/>
          <p:nvPr/>
        </p:nvSpPr>
        <p:spPr>
          <a:xfrm>
            <a:off x="2286000" y="4297680"/>
            <a:ext cx="7589520" cy="1371600"/>
          </a:xfrm>
          <a:prstGeom prst="roundRect">
            <a:avLst/>
          </a:prstGeom>
          <a:solidFill>
            <a:srgbClr val="D1FAE5"/>
          </a:solidFill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2286000" y="4297680"/>
            <a:ext cx="7589520" cy="1371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400" b="1" dirty="0">
                <a:solidFill>
                  <a:srgbClr val="1E293B"/>
                </a:solidFill>
                <a:latin typeface="Malgun Gothic"/>
                <a:ea typeface="Malgun Gothic"/>
              </a:rPr>
              <a:t>🎯  목표 :  정체 </a:t>
            </a:r>
            <a:r>
              <a:rPr lang="ko-KR" sz="2400" b="1" dirty="0">
                <a:solidFill>
                  <a:srgbClr val="059669"/>
                </a:solidFill>
                <a:latin typeface="Malgun Gothic"/>
                <a:ea typeface="Malgun Gothic"/>
              </a:rPr>
              <a:t>30분 전</a:t>
            </a:r>
            <a:r>
              <a:rPr lang="ko-KR" sz="2400" b="1" dirty="0">
                <a:solidFill>
                  <a:srgbClr val="1E293B"/>
                </a:solidFill>
                <a:latin typeface="Malgun Gothic"/>
                <a:ea typeface="Malgun Gothic"/>
              </a:rPr>
              <a:t> 미리 경보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2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2. 어떻게? — 3명의 전문가에게 묻는다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502920" y="1097280"/>
            <a:ext cx="11155680" cy="59436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50" dirty="0">
                <a:solidFill>
                  <a:srgbClr val="6B7280"/>
                </a:solidFill>
                <a:latin typeface="Malgun Gothic"/>
                <a:ea typeface="Malgun Gothic"/>
              </a:rPr>
              <a:t>한 명만 믿으면 틀릴 수 있다  →  </a:t>
            </a:r>
            <a:r>
              <a:rPr lang="ko-KR" sz="1550" b="1" dirty="0">
                <a:solidFill>
                  <a:srgbClr val="0F766E"/>
                </a:solidFill>
                <a:latin typeface="Malgun Gothic"/>
                <a:ea typeface="Malgun Gothic"/>
              </a:rPr>
              <a:t>3명에게 묻고 합의한다</a:t>
            </a:r>
          </a:p>
        </p:txBody>
      </p:sp>
      <p:sp>
        <p:nvSpPr>
          <p:cNvPr id="27" name="r27"/>
          <p:cNvSpPr/>
          <p:nvPr/>
        </p:nvSpPr>
        <p:spPr>
          <a:xfrm>
            <a:off x="502920" y="1828800"/>
            <a:ext cx="3566160" cy="3931920"/>
          </a:xfrm>
          <a:prstGeom prst="roundRect">
            <a:avLst/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502920" y="1828800"/>
            <a:ext cx="3566160" cy="640080"/>
          </a:xfrm>
          <a:prstGeom prst="roundRect">
            <a:avLst/>
          </a:prstGeom>
          <a:solidFill>
            <a:srgbClr val="D97706"/>
          </a:solidFill>
        </p:spPr>
        <p:txBody>
          <a:bodyPr/>
          <a:lstStyle/>
          <a:p/>
        </p:txBody>
      </p:sp>
      <p:sp>
        <p:nvSpPr>
          <p:cNvPr id="29" name="tb29"/>
          <p:cNvSpPr txBox="1"/>
          <p:nvPr/>
        </p:nvSpPr>
        <p:spPr>
          <a:xfrm>
            <a:off x="502920" y="1874519"/>
            <a:ext cx="356616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700" b="1" dirty="0">
                <a:solidFill>
                  <a:srgbClr val="FFFFFF"/>
                </a:solidFill>
                <a:latin typeface="Malgun Gothic"/>
                <a:ea typeface="Malgun Gothic"/>
              </a:rPr>
              <a:t>룰베이스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731520" y="2743200"/>
            <a:ext cx="3108960" cy="20116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D97706"/>
                </a:solidFill>
                <a:latin typeface="Malgun Gothic"/>
                <a:ea typeface="Malgun Gothic"/>
              </a:rPr>
              <a:t>역할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1E293B"/>
                </a:solidFill>
                <a:latin typeface="Malgun Gothic"/>
                <a:ea typeface="Malgun Gothic"/>
              </a:rPr>
              <a:t>확실한 정체를 딱 잡음</a:t>
            </a:r>
          </a:p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D97706"/>
                </a:solidFill>
                <a:latin typeface="Malgun Gothic"/>
                <a:ea typeface="Malgun Gothic"/>
              </a:rPr>
              <a:t>비유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규정집 든 베테랑</a:t>
            </a:r>
          </a:p>
        </p:txBody>
      </p:sp>
      <p:sp>
        <p:nvSpPr>
          <p:cNvPr id="31" name="r31"/>
          <p:cNvSpPr/>
          <p:nvPr/>
        </p:nvSpPr>
        <p:spPr>
          <a:xfrm>
            <a:off x="4315968" y="1828800"/>
            <a:ext cx="3566160" cy="3931920"/>
          </a:xfrm>
          <a:prstGeom prst="roundRect">
            <a:avLst/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32" name="r32"/>
          <p:cNvSpPr/>
          <p:nvPr/>
        </p:nvSpPr>
        <p:spPr>
          <a:xfrm>
            <a:off x="4315968" y="1828800"/>
            <a:ext cx="3566160" cy="640080"/>
          </a:xfrm>
          <a:prstGeom prst="round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sp>
        <p:nvSpPr>
          <p:cNvPr id="33" name="tb33"/>
          <p:cNvSpPr txBox="1"/>
          <p:nvPr/>
        </p:nvSpPr>
        <p:spPr>
          <a:xfrm>
            <a:off x="4315968" y="1874519"/>
            <a:ext cx="356616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700" b="1" dirty="0">
                <a:solidFill>
                  <a:srgbClr val="FFFFFF"/>
                </a:solidFill>
                <a:latin typeface="Malgun Gothic"/>
                <a:ea typeface="Malgun Gothic"/>
              </a:rPr>
              <a:t>정상 AI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4544568" y="2743200"/>
            <a:ext cx="3108960" cy="20116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2563EB"/>
                </a:solidFill>
                <a:latin typeface="Malgun Gothic"/>
                <a:ea typeface="Malgun Gothic"/>
              </a:rPr>
              <a:t>역할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1E293B"/>
                </a:solidFill>
                <a:latin typeface="Malgun Gothic"/>
                <a:ea typeface="Malgun Gothic"/>
              </a:rPr>
              <a:t>평소와 다른 낌새를 먼저 챔</a:t>
            </a:r>
          </a:p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2563EB"/>
                </a:solidFill>
                <a:latin typeface="Malgun Gothic"/>
                <a:ea typeface="Malgun Gothic"/>
              </a:rPr>
              <a:t>비유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눈치 빠른 신입</a:t>
            </a:r>
          </a:p>
        </p:txBody>
      </p:sp>
      <p:sp>
        <p:nvSpPr>
          <p:cNvPr id="35" name="r35"/>
          <p:cNvSpPr/>
          <p:nvPr/>
        </p:nvSpPr>
        <p:spPr>
          <a:xfrm>
            <a:off x="8119872" y="1828800"/>
            <a:ext cx="3566160" cy="3931920"/>
          </a:xfrm>
          <a:prstGeom prst="roundRect">
            <a:avLst/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36" name="r36"/>
          <p:cNvSpPr/>
          <p:nvPr/>
        </p:nvSpPr>
        <p:spPr>
          <a:xfrm>
            <a:off x="8119872" y="1828800"/>
            <a:ext cx="3566160" cy="640080"/>
          </a:xfrm>
          <a:prstGeom prst="roundRect">
            <a:avLst/>
          </a:prstGeom>
          <a:solidFill>
            <a:srgbClr val="DB2777"/>
          </a:solidFill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8119872" y="1874519"/>
            <a:ext cx="356616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700" b="1" dirty="0">
                <a:solidFill>
                  <a:srgbClr val="FFFFFF"/>
                </a:solidFill>
                <a:latin typeface="Malgun Gothic"/>
                <a:ea typeface="Malgun Gothic"/>
              </a:rPr>
              <a:t>비정상 AI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8348472" y="2743200"/>
            <a:ext cx="3108960" cy="20116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DB2777"/>
                </a:solidFill>
                <a:latin typeface="Malgun Gothic"/>
                <a:ea typeface="Malgun Gothic"/>
              </a:rPr>
              <a:t>역할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1E293B"/>
                </a:solidFill>
                <a:latin typeface="Malgun Gothic"/>
                <a:ea typeface="Malgun Gothic"/>
              </a:rPr>
              <a:t>'진짜 정체 맞아?' 확인</a:t>
            </a:r>
          </a:p>
          <a:p>
            <a:pPr>
              <a:spcAft>
                <a:spcPts val="150"/>
              </a:spcAft>
              <a:buNone/>
            </a:pPr>
            <a:r>
              <a:rPr lang="ko-KR" sz="1300" b="1" dirty="0">
                <a:solidFill>
                  <a:srgbClr val="DB2777"/>
                </a:solidFill>
                <a:latin typeface="Malgun Gothic"/>
                <a:ea typeface="Malgun Gothic"/>
              </a:rPr>
              <a:t>비유</a:t>
            </a:r>
          </a:p>
          <a:p>
            <a:pPr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sz="1450" dirty="0">
                <a:solidFill>
                  <a:srgbClr val="6B7280"/>
                </a:solidFill>
                <a:latin typeface="Malgun Gothic"/>
                <a:ea typeface="Malgun Gothic"/>
              </a:rPr>
              <a:t>꼼꼼한 검수자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00" dirty="0">
                <a:solidFill>
                  <a:srgbClr val="6B7280"/>
                </a:solidFill>
                <a:latin typeface="Malgun Gothic"/>
                <a:ea typeface="Malgun Gothic"/>
              </a:rPr>
              <a:t>→ 세 명의 판단을 </a:t>
            </a:r>
            <a:r>
              <a:rPr lang="ko-KR" sz="1400" b="1" dirty="0">
                <a:solidFill>
                  <a:srgbClr val="0F766E"/>
                </a:solidFill>
                <a:latin typeface="Malgun Gothic"/>
                <a:ea typeface="Malgun Gothic"/>
              </a:rPr>
              <a:t>하이브리드 판정</a:t>
            </a:r>
            <a:r>
              <a:rPr lang="ko-KR" sz="1400" dirty="0">
                <a:solidFill>
                  <a:srgbClr val="6B7280"/>
                </a:solidFill>
                <a:latin typeface="Malgun Gothic"/>
                <a:ea typeface="Malgun Gothic"/>
              </a:rPr>
              <a:t>이 종합한다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4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41" name="tb41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3. 핵심 아이디어 — 정상만 가르친다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502920" y="1371600"/>
            <a:ext cx="11155680" cy="2286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정상 학습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AI에게 '정상 상태'만 잔뜩 보여줌 → 평소 모습을 익힘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이상 감지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운영 중 평소와 다르면 → AI가 '어? 이상한데?' 감지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선행성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이 낌새가 정체보다 30분 먼저 나타남</a:t>
            </a:r>
          </a:p>
        </p:txBody>
      </p:sp>
      <p:sp>
        <p:nvSpPr>
          <p:cNvPr id="44" name="r44"/>
          <p:cNvSpPr/>
          <p:nvPr/>
        </p:nvSpPr>
        <p:spPr>
          <a:xfrm>
            <a:off x="1828800" y="4389120"/>
            <a:ext cx="8503920" cy="1280160"/>
          </a:xfrm>
          <a:prstGeom prst="roundRect">
            <a:avLst/>
          </a:prstGeom>
          <a:solidFill>
            <a:srgbClr val="D1FAE5"/>
          </a:solidFill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1828800" y="4389120"/>
            <a:ext cx="8503920" cy="128016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1E293B"/>
                </a:solidFill>
                <a:latin typeface="Malgun Gothic"/>
                <a:ea typeface="Malgun Gothic"/>
              </a:rPr>
              <a:t>평소를 알면, </a:t>
            </a:r>
            <a:r>
              <a:rPr lang="ko-KR" sz="2600" b="1" dirty="0">
                <a:solidFill>
                  <a:srgbClr val="059669"/>
                </a:solidFill>
                <a:latin typeface="Malgun Gothic"/>
                <a:ea typeface="Malgun Gothic"/>
              </a:rPr>
              <a:t>달라진 순간</a:t>
            </a:r>
            <a:r>
              <a:rPr lang="ko-KR" sz="2600" b="1" dirty="0">
                <a:solidFill>
                  <a:srgbClr val="1E293B"/>
                </a:solidFill>
                <a:latin typeface="Malgun Gothic"/>
                <a:ea typeface="Malgun Gothic"/>
              </a:rPr>
              <a:t>을 안다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46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4. 하이브리드 판정 — 3명이 합의하면 진짜</a:t>
            </a:r>
          </a:p>
        </p:txBody>
      </p:sp>
      <p:sp>
        <p:nvSpPr>
          <p:cNvPr id="48" name="tb48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49" name="r49"/>
          <p:cNvSpPr/>
          <p:nvPr/>
        </p:nvSpPr>
        <p:spPr>
          <a:xfrm>
            <a:off x="502920" y="1143000"/>
            <a:ext cx="11155680" cy="548640"/>
          </a:xfrm>
          <a:prstGeom prst="round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731520" y="1143000"/>
            <a:ext cx="694944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룰베이스  +  정상 AI  +  비정상 AI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680960" y="1143000"/>
            <a:ext cx="3749039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→  최종 판정</a:t>
            </a:r>
          </a:p>
        </p:txBody>
      </p:sp>
      <p:sp>
        <p:nvSpPr>
          <p:cNvPr id="52" name="r52"/>
          <p:cNvSpPr/>
          <p:nvPr/>
        </p:nvSpPr>
        <p:spPr>
          <a:xfrm>
            <a:off x="502920" y="1874519"/>
            <a:ext cx="11155680" cy="658368"/>
          </a:xfrm>
          <a:prstGeom prst="roundRect">
            <a:avLst/>
          </a:prstGeom>
          <a:solidFill>
            <a:srgbClr val="D1FAE5"/>
          </a:solidFill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731520" y="1874519"/>
            <a:ext cx="6949440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위험  +  이상  +  정체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680960" y="1874519"/>
            <a:ext cx="3749039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DC2626"/>
                </a:solidFill>
                <a:latin typeface="Malgun Gothic"/>
                <a:ea typeface="Malgun Gothic"/>
              </a:rPr>
              <a:t>🔴 확실 정체 · 즉시</a:t>
            </a:r>
          </a:p>
        </p:txBody>
      </p:sp>
      <p:sp>
        <p:nvSpPr>
          <p:cNvPr id="55" name="r55"/>
          <p:cNvSpPr/>
          <p:nvPr/>
        </p:nvSpPr>
        <p:spPr>
          <a:xfrm>
            <a:off x="502920" y="2624328"/>
            <a:ext cx="11155680" cy="658368"/>
          </a:xfrm>
          <a:prstGeom prst="roundRect">
            <a:avLst/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56" name="tb56"/>
          <p:cNvSpPr txBox="1"/>
          <p:nvPr/>
        </p:nvSpPr>
        <p:spPr>
          <a:xfrm>
            <a:off x="731520" y="2624328"/>
            <a:ext cx="6949440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위험  +  정상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7680960" y="2624328"/>
            <a:ext cx="3749039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1E293B"/>
                </a:solidFill>
                <a:latin typeface="Malgun Gothic"/>
                <a:ea typeface="Malgun Gothic"/>
              </a:rPr>
              <a:t>정체 (룰 근거)</a:t>
            </a:r>
          </a:p>
        </p:txBody>
      </p:sp>
      <p:sp>
        <p:nvSpPr>
          <p:cNvPr id="58" name="r58"/>
          <p:cNvSpPr/>
          <p:nvPr/>
        </p:nvSpPr>
        <p:spPr>
          <a:xfrm>
            <a:off x="502920" y="3374136"/>
            <a:ext cx="11155680" cy="658368"/>
          </a:xfrm>
          <a:prstGeom prst="roundRect">
            <a:avLst/>
          </a:prstGeom>
          <a:solidFill>
            <a:srgbClr val="FEF3C7"/>
          </a:solidFill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731520" y="3374136"/>
            <a:ext cx="6949440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정상  +  이상  +  정체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680960" y="3374136"/>
            <a:ext cx="3749039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D97706"/>
                </a:solidFill>
                <a:latin typeface="Malgun Gothic"/>
                <a:ea typeface="Malgun Gothic"/>
              </a:rPr>
              <a:t>🟡 30분 전 조기경보 ⭐</a:t>
            </a:r>
          </a:p>
        </p:txBody>
      </p:sp>
      <p:sp>
        <p:nvSpPr>
          <p:cNvPr id="61" name="r61"/>
          <p:cNvSpPr/>
          <p:nvPr/>
        </p:nvSpPr>
        <p:spPr>
          <a:xfrm>
            <a:off x="502920" y="4123944"/>
            <a:ext cx="11155680" cy="658368"/>
          </a:xfrm>
          <a:prstGeom prst="roundRect">
            <a:avLst/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62" name="tb62"/>
          <p:cNvSpPr txBox="1"/>
          <p:nvPr/>
        </p:nvSpPr>
        <p:spPr>
          <a:xfrm>
            <a:off x="731520" y="4123944"/>
            <a:ext cx="6949440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정상  +  이상  +  정체아님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7680960" y="4123944"/>
            <a:ext cx="3749039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6B7280"/>
                </a:solidFill>
                <a:latin typeface="Malgun Gothic"/>
                <a:ea typeface="Malgun Gothic"/>
              </a:rPr>
              <a:t>⚪ 무시 (설비작업 등)</a:t>
            </a:r>
          </a:p>
        </p:txBody>
      </p:sp>
      <p:sp>
        <p:nvSpPr>
          <p:cNvPr id="64" name="r64"/>
          <p:cNvSpPr/>
          <p:nvPr/>
        </p:nvSpPr>
        <p:spPr>
          <a:xfrm>
            <a:off x="502920" y="4873752"/>
            <a:ext cx="11155680" cy="658368"/>
          </a:xfrm>
          <a:prstGeom prst="roundRect">
            <a:avLst/>
          </a:prstGeom>
          <a:solidFill>
            <a:srgbClr val="D1FAE5"/>
          </a:solidFill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731520" y="4873752"/>
            <a:ext cx="6949440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정상  +  정상</a:t>
            </a:r>
          </a:p>
        </p:txBody>
      </p:sp>
      <p:sp>
        <p:nvSpPr>
          <p:cNvPr id="66" name="tb66"/>
          <p:cNvSpPr txBox="1"/>
          <p:nvPr/>
        </p:nvSpPr>
        <p:spPr>
          <a:xfrm>
            <a:off x="7680960" y="4873752"/>
            <a:ext cx="3749039" cy="658368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059669"/>
                </a:solidFill>
                <a:latin typeface="Malgun Gothic"/>
                <a:ea typeface="Malgun Gothic"/>
              </a:rPr>
              <a:t>✅ 안전</a:t>
            </a:r>
          </a:p>
        </p:txBody>
      </p:sp>
      <p:sp>
        <p:nvSpPr>
          <p:cNvPr id="67" name="tb67"/>
          <p:cNvSpPr txBox="1"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00" dirty="0">
                <a:solidFill>
                  <a:srgbClr val="1E293B"/>
                </a:solidFill>
                <a:latin typeface="Malgun Gothic"/>
                <a:ea typeface="Malgun Gothic"/>
              </a:rPr>
              <a:t>⭐ 룰은 아직 조용한데 AI 둘이 '곧 정체' → </a:t>
            </a:r>
            <a:r>
              <a:rPr lang="ko-KR" sz="1400" b="1" dirty="0">
                <a:solidFill>
                  <a:srgbClr val="D97706"/>
                </a:solidFill>
                <a:latin typeface="Malgun Gothic"/>
                <a:ea typeface="Malgun Gothic"/>
              </a:rPr>
              <a:t>룰보다 30분 먼저 경보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68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5. 이 시스템의 가치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502920" y="1371600"/>
            <a:ext cx="11155680" cy="301752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⏱  선행 예측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정체 30분 전 미리 알림 — 대응 시간 확보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🎯  오탐 감소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'정체 아닌 이상'(설비작업·센서)은 걸러냄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🔍  설명 가능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어느 지표가 왜 위험한지 근거 제시</a:t>
            </a:r>
          </a:p>
          <a:p>
            <a:pPr marL="228600" indent="-228600">
              <a:lnSpc>
                <a:spcPct val="115000"/>
              </a:lnSpc>
              <a:spcAft>
                <a:spcPts val="320"/>
              </a:spcAft>
              <a:buChar char="•"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🛡  안전성  </a:t>
            </a: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3명 합의 구조 → 한 명이 틀려도 버팀</a:t>
            </a:r>
          </a:p>
        </p:txBody>
      </p:sp>
      <p:sp>
        <p:nvSpPr>
          <p:cNvPr id="72" name="r72"/>
          <p:cNvSpPr/>
          <p:nvPr/>
        </p:nvSpPr>
        <p:spPr>
          <a:xfrm>
            <a:off x="1371600" y="4846320"/>
            <a:ext cx="9418320" cy="1188720"/>
          </a:xfrm>
          <a:prstGeom prst="round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73" name="tb73"/>
          <p:cNvSpPr txBox="1"/>
          <p:nvPr/>
        </p:nvSpPr>
        <p:spPr>
          <a:xfrm>
            <a:off x="1371600" y="4846320"/>
            <a:ext cx="9418320" cy="11887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400" b="1" dirty="0">
                <a:solidFill>
                  <a:srgbClr val="FFFFFF"/>
                </a:solidFill>
                <a:latin typeface="Malgun Gothic"/>
                <a:ea typeface="Malgun Gothic"/>
              </a:rPr>
              <a:t>더 빠르고,  더 정확하고,  더 믿을 수 있게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7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75" name="tb75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6. 진행 계획</a:t>
            </a:r>
          </a:p>
        </p:txBody>
      </p:sp>
      <p:sp>
        <p:nvSpPr>
          <p:cNvPr id="76" name="tb76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ko-KR" sz="2000" b="1" dirty="0">
                <a:solidFill>
                  <a:srgbClr val="D1FAE5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77" name="r77"/>
          <p:cNvSpPr/>
          <p:nvPr/>
        </p:nvSpPr>
        <p:spPr>
          <a:xfrm>
            <a:off x="502920" y="1188720"/>
            <a:ext cx="11155680" cy="548640"/>
          </a:xfrm>
          <a:prstGeom prst="roundRect">
            <a:avLst/>
          </a:prstGeom>
          <a:solidFill>
            <a:srgbClr val="0F172A"/>
          </a:solidFill>
        </p:spPr>
        <p:txBody>
          <a:bodyPr/>
          <a:lstStyle/>
          <a:p/>
        </p:txBody>
      </p:sp>
      <p:sp>
        <p:nvSpPr>
          <p:cNvPr id="78" name="tb78"/>
          <p:cNvSpPr txBox="1"/>
          <p:nvPr/>
        </p:nvSpPr>
        <p:spPr>
          <a:xfrm>
            <a:off x="640080" y="118872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단계</a:t>
            </a:r>
          </a:p>
        </p:txBody>
      </p:sp>
      <p:sp>
        <p:nvSpPr>
          <p:cNvPr id="79" name="tb79"/>
          <p:cNvSpPr txBox="1"/>
          <p:nvPr/>
        </p:nvSpPr>
        <p:spPr>
          <a:xfrm>
            <a:off x="1737360" y="118872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9144000" y="118872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상태</a:t>
            </a:r>
          </a:p>
        </p:txBody>
      </p:sp>
      <p:sp>
        <p:nvSpPr>
          <p:cNvPr id="81" name="tb81"/>
          <p:cNvSpPr txBox="1"/>
          <p:nvPr/>
        </p:nvSpPr>
        <p:spPr>
          <a:xfrm>
            <a:off x="640080" y="19659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2" name="tb82"/>
          <p:cNvSpPr txBox="1"/>
          <p:nvPr/>
        </p:nvSpPr>
        <p:spPr>
          <a:xfrm>
            <a:off x="1737360" y="19659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정상 데이터 준비</a:t>
            </a:r>
          </a:p>
        </p:txBody>
      </p:sp>
      <p:sp>
        <p:nvSpPr>
          <p:cNvPr id="83" name="tb83"/>
          <p:cNvSpPr txBox="1"/>
          <p:nvPr/>
        </p:nvSpPr>
        <p:spPr>
          <a:xfrm>
            <a:off x="9144000" y="19659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059669"/>
                </a:solidFill>
                <a:latin typeface="Malgun Gothic"/>
                <a:ea typeface="Malgun Gothic"/>
              </a:rPr>
              <a:t>✅ 완료</a:t>
            </a:r>
          </a:p>
        </p:txBody>
      </p:sp>
      <p:sp>
        <p:nvSpPr>
          <p:cNvPr id="84" name="tb84"/>
          <p:cNvSpPr txBox="1"/>
          <p:nvPr/>
        </p:nvSpPr>
        <p:spPr>
          <a:xfrm>
            <a:off x="640080" y="26517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5" name="tb85"/>
          <p:cNvSpPr txBox="1"/>
          <p:nvPr/>
        </p:nvSpPr>
        <p:spPr>
          <a:xfrm>
            <a:off x="1737360" y="26517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정상 AI 학습</a:t>
            </a:r>
          </a:p>
        </p:txBody>
      </p:sp>
      <p:sp>
        <p:nvSpPr>
          <p:cNvPr id="86" name="tb86"/>
          <p:cNvSpPr txBox="1"/>
          <p:nvPr/>
        </p:nvSpPr>
        <p:spPr>
          <a:xfrm>
            <a:off x="9144000" y="26517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2563EB"/>
                </a:solidFill>
                <a:latin typeface="Malgun Gothic"/>
                <a:ea typeface="Malgun Gothic"/>
              </a:rPr>
              <a:t>🔄 진행</a:t>
            </a:r>
          </a:p>
        </p:txBody>
      </p:sp>
      <p:sp>
        <p:nvSpPr>
          <p:cNvPr id="87" name="tb87"/>
          <p:cNvSpPr txBox="1"/>
          <p:nvPr/>
        </p:nvSpPr>
        <p:spPr>
          <a:xfrm>
            <a:off x="640080" y="33375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88" name="tb88"/>
          <p:cNvSpPr txBox="1"/>
          <p:nvPr/>
        </p:nvSpPr>
        <p:spPr>
          <a:xfrm>
            <a:off x="1737360" y="33375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30분 선행 검증</a:t>
            </a:r>
          </a:p>
        </p:txBody>
      </p:sp>
      <p:sp>
        <p:nvSpPr>
          <p:cNvPr id="89" name="tb89"/>
          <p:cNvSpPr txBox="1"/>
          <p:nvPr/>
        </p:nvSpPr>
        <p:spPr>
          <a:xfrm>
            <a:off x="9144000" y="33375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D97706"/>
                </a:solidFill>
                <a:latin typeface="Malgun Gothic"/>
                <a:ea typeface="Malgun Gothic"/>
              </a:rPr>
              <a:t>⬜ 핵심</a:t>
            </a:r>
          </a:p>
        </p:txBody>
      </p:sp>
      <p:sp>
        <p:nvSpPr>
          <p:cNvPr id="90" name="tb90"/>
          <p:cNvSpPr txBox="1"/>
          <p:nvPr/>
        </p:nvSpPr>
        <p:spPr>
          <a:xfrm>
            <a:off x="640080" y="40233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91" name="tb91"/>
          <p:cNvSpPr txBox="1"/>
          <p:nvPr/>
        </p:nvSpPr>
        <p:spPr>
          <a:xfrm>
            <a:off x="1737360" y="40233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비정상 AI 학습</a:t>
            </a:r>
          </a:p>
        </p:txBody>
      </p:sp>
      <p:sp>
        <p:nvSpPr>
          <p:cNvPr id="92" name="tb92"/>
          <p:cNvSpPr txBox="1"/>
          <p:nvPr/>
        </p:nvSpPr>
        <p:spPr>
          <a:xfrm>
            <a:off x="9144000" y="40233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6B7280"/>
                </a:solidFill>
                <a:latin typeface="Malgun Gothic"/>
                <a:ea typeface="Malgun Gothic"/>
              </a:rPr>
              <a:t>⬜</a:t>
            </a:r>
          </a:p>
        </p:txBody>
      </p:sp>
      <p:sp>
        <p:nvSpPr>
          <p:cNvPr id="93" name="tb93"/>
          <p:cNvSpPr txBox="1"/>
          <p:nvPr/>
        </p:nvSpPr>
        <p:spPr>
          <a:xfrm>
            <a:off x="640080" y="47091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94" name="tb94"/>
          <p:cNvSpPr txBox="1"/>
          <p:nvPr/>
        </p:nvSpPr>
        <p:spPr>
          <a:xfrm>
            <a:off x="1737360" y="47091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하이브리드 판정 완성</a:t>
            </a:r>
          </a:p>
        </p:txBody>
      </p:sp>
      <p:sp>
        <p:nvSpPr>
          <p:cNvPr id="95" name="tb95"/>
          <p:cNvSpPr txBox="1"/>
          <p:nvPr/>
        </p:nvSpPr>
        <p:spPr>
          <a:xfrm>
            <a:off x="9144000" y="47091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6B7280"/>
                </a:solidFill>
                <a:latin typeface="Malgun Gothic"/>
                <a:ea typeface="Malgun Gothic"/>
              </a:rPr>
              <a:t>⬜</a:t>
            </a:r>
          </a:p>
        </p:txBody>
      </p:sp>
      <p:sp>
        <p:nvSpPr>
          <p:cNvPr id="96" name="tb96"/>
          <p:cNvSpPr txBox="1"/>
          <p:nvPr/>
        </p:nvSpPr>
        <p:spPr>
          <a:xfrm>
            <a:off x="640080" y="5394960"/>
            <a:ext cx="9144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0F766E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97" name="tb97"/>
          <p:cNvSpPr txBox="1"/>
          <p:nvPr/>
        </p:nvSpPr>
        <p:spPr>
          <a:xfrm>
            <a:off x="1737360" y="5394960"/>
            <a:ext cx="731520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1500" dirty="0">
                <a:solidFill>
                  <a:srgbClr val="1E293B"/>
                </a:solidFill>
                <a:latin typeface="Malgun Gothic"/>
                <a:ea typeface="Malgun Gothic"/>
              </a:rPr>
              <a:t>룰 + AI 병행 운영</a:t>
            </a:r>
          </a:p>
        </p:txBody>
      </p:sp>
      <p:sp>
        <p:nvSpPr>
          <p:cNvPr id="98" name="tb98"/>
          <p:cNvSpPr txBox="1"/>
          <p:nvPr/>
        </p:nvSpPr>
        <p:spPr>
          <a:xfrm>
            <a:off x="9144000" y="5394960"/>
            <a:ext cx="2468880" cy="54864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1450" b="1" dirty="0">
                <a:solidFill>
                  <a:srgbClr val="6B7280"/>
                </a:solidFill>
                <a:latin typeface="Malgun Gothic"/>
                <a:ea typeface="Malgun Gothic"/>
              </a:rPr>
              <a:t>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9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txBody>
          <a:bodyPr/>
          <a:lstStyle/>
          <a:p/>
        </p:txBody>
      </p:sp>
      <p:sp>
        <p:nvSpPr>
          <p:cNvPr id="100" name="r10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101" name="tb101"/>
          <p:cNvSpPr txBox="1"/>
          <p:nvPr/>
        </p:nvSpPr>
        <p:spPr>
          <a:xfrm>
            <a:off x="502920" y="109728"/>
            <a:ext cx="10058400" cy="73152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ko-KR" sz="2500" b="1" dirty="0">
                <a:solidFill>
                  <a:srgbClr val="FFFFFF"/>
                </a:solidFill>
                <a:latin typeface="Malgun Gothic"/>
                <a:ea typeface="Malgun Gothic"/>
              </a:rPr>
              <a:t>종합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200" dirty="0">
                <a:solidFill>
                  <a:srgbClr val="CBD5E1"/>
                </a:solidFill>
                <a:latin typeface="Malgun Gothic"/>
                <a:ea typeface="Malgun Gothic"/>
              </a:rPr>
              <a:t>룰베이스  +  정상 AI  +  비정상 AI  →  </a:t>
            </a:r>
            <a:r>
              <a:rPr lang="ko-KR" sz="2200" b="1" dirty="0">
                <a:solidFill>
                  <a:srgbClr val="5EEAD4"/>
                </a:solidFill>
                <a:latin typeface="Malgun Gothic"/>
                <a:ea typeface="Malgun Gothic"/>
              </a:rPr>
              <a:t>하이브리드 판정</a:t>
            </a:r>
          </a:p>
        </p:txBody>
      </p:sp>
      <p:sp>
        <p:nvSpPr>
          <p:cNvPr id="103" name="r103"/>
          <p:cNvSpPr/>
          <p:nvPr/>
        </p:nvSpPr>
        <p:spPr>
          <a:xfrm>
            <a:off x="2743200" y="3383280"/>
            <a:ext cx="6675120" cy="1371600"/>
          </a:xfrm>
          <a:prstGeom prst="roundRect">
            <a:avLst/>
          </a:prstGeom>
          <a:solidFill>
            <a:srgbClr val="1E293B"/>
          </a:solidFill>
        </p:spPr>
        <p:txBody>
          <a:bodyPr/>
          <a:lstStyle/>
          <a:p/>
        </p:txBody>
      </p:sp>
      <p:sp>
        <p:nvSpPr>
          <p:cNvPr id="104" name="tb104"/>
          <p:cNvSpPr txBox="1"/>
          <p:nvPr/>
        </p:nvSpPr>
        <p:spPr>
          <a:xfrm>
            <a:off x="2743200" y="3383280"/>
            <a:ext cx="6675120" cy="13716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/>
                <a:ea typeface="Malgun Gothic"/>
              </a:rPr>
              <a:t>"세 개가 합의하면 진짜다"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ko-KR" sz="2400" dirty="0">
                <a:solidFill>
                  <a:srgbClr val="CBD5E1"/>
                </a:solidFill>
                <a:latin typeface="Malgun Gothic"/>
                <a:ea typeface="Malgun Gothic"/>
              </a:rPr>
              <a:t>= 정체 </a:t>
            </a:r>
            <a:r>
              <a:rPr lang="ko-KR" sz="2400" b="1" dirty="0">
                <a:solidFill>
                  <a:srgbClr val="5EEAD4"/>
                </a:solidFill>
                <a:latin typeface="Malgun Gothic"/>
                <a:ea typeface="Malgun Gothic"/>
              </a:rPr>
              <a:t>30분 사전예측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C2626"/>
      </a:accent3>
      <a:accent4>
        <a:srgbClr val="F59E0B"/>
      </a:accent4>
      <a:accent5>
        <a:srgbClr val="8B5CF6"/>
      </a:accent5>
      <a:accent6>
        <a:srgbClr val="EC4899"/>
      </a:accent6>
      <a:hlink>
        <a:srgbClr val="2563EB"/>
      </a:hlink>
      <a:folHlink>
        <a:srgbClr val="6B7280"/>
      </a:folHlink>
    </a:clrScheme>
    <a:fontScheme name="Cust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하이브리드 정체예측 — 고객 보고</dc:title>
  <dc:creator>Hybrid AMHS</dc:creator>
  <cp:lastModifiedBy>Hybrid AMHS</cp:lastModifiedBy>
  <dcterms:created xsi:type="dcterms:W3CDTF">2026-07-02T00:00:00Z</dcterms:created>
  <dcterms:modified xsi:type="dcterms:W3CDTF">2026-07-02T00:00:00Z</dcterms:modified>
</cp:coreProperties>
</file>