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S1"/>
    <p:sldId id="257" r:id="rIdS2"/>
    <p:sldId id="258" r:id="rIdS3"/>
    <p:sldId id="259" r:id="rIdS4"/>
    <p:sldId id="260" r:id="rIdS5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M" Type="http://schemas.openxmlformats.org/officeDocument/2006/relationships/slideMaster" Target="slideMasters/slideMaster1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
<Relationship Id="rIdSM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L1" Type="http://schemas.openxmlformats.org/officeDocument/2006/relationships/slideLayout" Target="../slideLayouts/slideLayout1.xml"/>
<Relationship Id="rIdT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1"/>
  </p:sldLayoutIdLst>
  <p:txStyles>
    <p:titleStyle>
      <a:lvl1pPr>
        <a:defRPr sz="4400">
          <a:solidFill>
            <a:schemeClr val="tx1"/>
          </a:solidFill>
          <a:latin typeface="Malgun Gothic"/>
        </a:defRPr>
      </a:lvl1pPr>
    </p:titleStyle>
    <p:bodyStyle>
      <a:lvl1pPr>
        <a:defRPr sz="1800">
          <a:solidFill>
            <a:schemeClr val="tx1"/>
          </a:solidFill>
          <a:latin typeface="Malgun Gothic"/>
        </a:defRPr>
      </a:lvl1pPr>
      <a:lvl2pPr>
        <a:defRPr sz="1600">
          <a:latin typeface="Malgun Gothic"/>
        </a:defRPr>
      </a:lvl2pPr>
      <a:lvl3pPr>
        <a:defRPr sz="1400">
          <a:latin typeface="Malgun Gothic"/>
        </a:defRPr>
      </a:lvl3pPr>
    </p:bodyStyle>
    <p:otherStyle>
      <a:lvl1pPr>
        <a:defRPr sz="1800">
          <a:latin typeface="Malgun Gothic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4000" b="1" dirty="0">
                <a:solidFill>
                  <a:srgbClr val="FFFFFF"/>
                </a:solidFill>
                <a:latin typeface="Malgun Gothic"/>
                <a:ea typeface="Malgun Gothic"/>
              </a:rPr>
              <a:t>M16A HUBROOM 이벤트 예측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000" dirty="0">
                <a:solidFill>
                  <a:srgbClr val="9CA3AF"/>
                </a:solidFill>
                <a:latin typeface="Malgun Gothic"/>
                <a:ea typeface="Malgun Gothic"/>
              </a:rPr>
              <a:t>반도체 FAB AMHS 반송 정체 사전 예측 — 작업 보고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250"/>
              </a:spcAft>
              <a:buNone/>
            </a:pPr>
            <a:r>
              <a:rPr lang="ko-KR" sz="1700" dirty="0">
                <a:solidFill>
                  <a:srgbClr val="FFFFFF"/>
                </a:solidFill>
                <a:latin typeface="Malgun Gothic"/>
                <a:ea typeface="Malgun Gothic"/>
              </a:rPr>
              <a:t>1.  룰베이스 고도화  (hubroom_predictor.py)</a:t>
            </a:r>
          </a:p>
          <a:p>
            <a:pPr>
              <a:spcAft>
                <a:spcPts val="250"/>
              </a:spcAft>
              <a:buNone/>
            </a:pPr>
            <a:r>
              <a:rPr lang="ko-KR" sz="1700" dirty="0">
                <a:solidFill>
                  <a:srgbClr val="FFFFFF"/>
                </a:solidFill>
                <a:latin typeface="Malgun Gothic"/>
                <a:ea typeface="Malgun Gothic"/>
              </a:rPr>
              <a:t>2.  운영로그 파서 V2</a:t>
            </a:r>
          </a:p>
          <a:p>
            <a:pPr>
              <a:spcAft>
                <a:spcPts val="250"/>
              </a:spcAft>
              <a:buNone/>
            </a:pPr>
            <a:r>
              <a:rPr lang="ko-KR" sz="1700" dirty="0">
                <a:solidFill>
                  <a:srgbClr val="FFFFFF"/>
                </a:solidFill>
                <a:latin typeface="Malgun Gothic"/>
                <a:ea typeface="Malgun Gothic"/>
              </a:rPr>
              <a:t>3.  리프터 주변 HID 파악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300" dirty="0">
                <a:solidFill>
                  <a:srgbClr val="6B7280"/>
                </a:solidFill>
                <a:latin typeface="Malgun Gothic"/>
                <a:ea typeface="Malgun Gothic"/>
              </a:rPr>
              <a:t>2026-06-16   ·   검증기간 2026-04 ~ 05 (56일)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1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937"/>
          </a:solidFill>
        </p:spPr>
        <p:txBody>
          <a:bodyPr/>
          <a:lstStyle/>
          <a:p/>
        </p:txBody>
      </p:sp>
      <p:sp>
        <p:nvSpPr>
          <p:cNvPr id="18" name="tb18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600" b="1" dirty="0">
                <a:solidFill>
                  <a:srgbClr val="FFFFFF"/>
                </a:solidFill>
                <a:latin typeface="Malgun Gothic"/>
                <a:ea typeface="Malgun Gothic"/>
              </a:rPr>
              <a:t>1. 룰베이스 고도화 — hubroom_predictor.py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2563EB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502920" y="1143000"/>
            <a:ext cx="11155680" cy="77724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buNone/>
            </a:pPr>
            <a:r>
              <a:rPr lang="ko-KR" sz="1500" dirty="0">
                <a:solidFill>
                  <a:srgbClr val="6B7280"/>
                </a:solidFill>
                <a:latin typeface="Malgun Gothic"/>
                <a:ea typeface="Malgun Gothic"/>
              </a:rPr>
              <a:t>8개 영역을 </a:t>
            </a:r>
            <a:r>
              <a:rPr lang="ko-KR" sz="1500" b="1" dirty="0">
                <a:solidFill>
                  <a:srgbClr val="111827"/>
                </a:solidFill>
                <a:latin typeface="Malgun Gothic"/>
                <a:ea typeface="Malgun Gothic"/>
              </a:rPr>
              <a:t>매분</a:t>
            </a:r>
            <a:r>
              <a:rPr lang="ko-KR" sz="1500" dirty="0">
                <a:solidFill>
                  <a:srgbClr val="6B7280"/>
                </a:solidFill>
                <a:latin typeface="Malgun Gothic"/>
                <a:ea typeface="Malgun Gothic"/>
              </a:rPr>
              <a:t> 룰 평가 → 위험 점수·등급 산출. 메신저 등록보다 </a:t>
            </a: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평균 30~60분 먼저</a:t>
            </a:r>
            <a:r>
              <a:rPr lang="ko-KR" sz="1500" dirty="0">
                <a:solidFill>
                  <a:srgbClr val="6B7280"/>
                </a:solidFill>
                <a:latin typeface="Malgun Gothic"/>
                <a:ea typeface="Malgun Gothic"/>
              </a:rPr>
              <a:t> 정체 예측.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502920" y="1965960"/>
            <a:ext cx="6766560" cy="38404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350"/>
              </a:spcAft>
              <a:buNone/>
            </a:pPr>
            <a:r>
              <a:rPr lang="ko-KR" sz="1700" b="1" dirty="0">
                <a:solidFill>
                  <a:srgbClr val="1F2937"/>
                </a:solidFill>
                <a:latin typeface="Malgun Gothic"/>
                <a:ea typeface="Malgun Gothic"/>
              </a:rPr>
              <a:t>v6 핵심 개선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사건 진동 흡수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점수 잠깐 하락 후 재상승도 같은 사건 (gap 60분)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5단계 등급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관심100 / 주의120 / 경계130 / 위험160 / 발동220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노이즈 차단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점수 100 미만은 사건 기록 X (모니터링만)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장애유형 라벨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HUB-FAB정체 / HUB-리프터역증가 등 자동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지속성·재발생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지속 N분 / 재발 N회 컬럼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7543800" y="1965960"/>
            <a:ext cx="4114800" cy="3840480"/>
          </a:xfrm>
          <a:prstGeom prst="rect">
            <a:avLst/>
          </a:prstGeom>
          <a:solidFill>
            <a:srgbClr val="F3F4F6"/>
          </a:solidFill>
        </p:spPr>
        <p:txBody>
          <a:bodyPr wrap="square" anchor="t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600" b="1" dirty="0">
                <a:solidFill>
                  <a:srgbClr val="1F2937"/>
                </a:solidFill>
                <a:latin typeface="Malgun Gothic"/>
                <a:ea typeface="Malgun Gothic"/>
              </a:rPr>
              <a:t>검증 결과 (4~5월)</a:t>
            </a:r>
          </a:p>
          <a:p>
            <a:pPr algn="ctr">
              <a:spcAft>
                <a:spcPts val="100"/>
              </a:spcAft>
              <a:buNone/>
            </a:pPr>
            <a:r>
              <a:rPr lang="ko-KR" sz="4400" b="1" dirty="0">
                <a:solidFill>
                  <a:srgbClr val="059669"/>
                </a:solidFill>
                <a:latin typeface="Malgun Gothic"/>
                <a:ea typeface="Malgun Gothic"/>
              </a:rPr>
              <a:t>75%</a:t>
            </a:r>
          </a:p>
          <a:p>
            <a:pPr algn="ctr">
              <a:spcAft>
                <a:spcPts val="500"/>
              </a:spcAft>
              <a:buNone/>
            </a:pPr>
            <a:r>
              <a:rPr lang="ko-KR" sz="1300" dirty="0">
                <a:solidFill>
                  <a:srgbClr val="6B7280"/>
                </a:solidFill>
                <a:latin typeface="Malgun Gothic"/>
                <a:ea typeface="Malgun Gothic"/>
              </a:rPr>
              <a:t>위험 등급(160+) 정밀도</a:t>
            </a:r>
          </a:p>
          <a:p>
            <a:pPr algn="ctr">
              <a:spcAft>
                <a:spcPts val="100"/>
              </a:spcAft>
              <a:buNone/>
            </a:pPr>
            <a:r>
              <a:rPr lang="ko-KR" sz="3200" b="1" dirty="0">
                <a:solidFill>
                  <a:srgbClr val="2563EB"/>
                </a:solidFill>
                <a:latin typeface="Malgun Gothic"/>
                <a:ea typeface="Malgun Gothic"/>
              </a:rPr>
              <a:t>+32분</a:t>
            </a:r>
          </a:p>
          <a:p>
            <a:pPr algn="ctr">
              <a:spcAft>
                <a:spcPts val="400"/>
              </a:spcAft>
              <a:buNone/>
            </a:pPr>
            <a:r>
              <a:rPr lang="ko-KR" sz="1300" dirty="0">
                <a:solidFill>
                  <a:srgbClr val="6B7280"/>
                </a:solidFill>
                <a:latin typeface="Malgun Gothic"/>
                <a:ea typeface="Malgun Gothic"/>
              </a:rPr>
              <a:t>평균 사전 예측 리드타임</a:t>
            </a:r>
          </a:p>
          <a:p>
            <a:pPr algn="ctr">
              <a:spcAft>
                <a:spcPts val="400"/>
              </a:spcAft>
              <a:buNone/>
            </a:pPr>
            <a:r>
              <a:rPr lang="ko-KR" sz="1300" dirty="0">
                <a:solidFill>
                  <a:srgbClr val="6B7280"/>
                </a:solidFill>
                <a:latin typeface="Malgun Gothic"/>
                <a:ea typeface="Malgun Gothic"/>
              </a:rPr>
              <a:t>하루 0.5건 — 알람 피로도 낮음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2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937"/>
          </a:solidFill>
        </p:spPr>
        <p:txBody>
          <a:bodyPr/>
          <a:lstStyle/>
          <a:p/>
        </p:txBody>
      </p:sp>
      <p:sp>
        <p:nvSpPr>
          <p:cNvPr id="24" name="tb24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600" b="1" dirty="0">
                <a:solidFill>
                  <a:srgbClr val="FFFFFF"/>
                </a:solidFill>
                <a:latin typeface="Malgun Gothic"/>
                <a:ea typeface="Malgun Gothic"/>
              </a:rPr>
              <a:t>2. 운영로그 파서 V2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2563E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sz="1500" dirty="0">
                <a:solidFill>
                  <a:srgbClr val="6B7280"/>
                </a:solidFill>
                <a:latin typeface="Malgun Gothic"/>
                <a:ea typeface="Malgun Gothic"/>
              </a:rPr>
              <a:t>운영자 메신저 채팅 → 구조화된 장애 목록(Episode) = 룰베이스 채점용 </a:t>
            </a: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정답지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502920" y="1828800"/>
            <a:ext cx="11155680" cy="685800"/>
          </a:xfrm>
          <a:prstGeom prst="rect">
            <a:avLst/>
          </a:prstGeom>
          <a:solidFill>
            <a:srgbClr val="F3F4F6"/>
          </a:solidFill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500" i="1" dirty="0">
                <a:solidFill>
                  <a:srgbClr val="111827"/>
                </a:solidFill>
                <a:latin typeface="Malgun Gothic"/>
                <a:ea typeface="Malgun Gothic"/>
              </a:rPr>
              <a:t>"Deadlock 으로 OHT 정체중입니다"</a:t>
            </a:r>
            <a:r>
              <a:rPr lang="ko-KR" sz="1500" dirty="0">
                <a:solidFill>
                  <a:srgbClr val="6B7280"/>
                </a:solidFill>
                <a:latin typeface="Malgun Gothic"/>
                <a:ea typeface="Malgun Gothic"/>
              </a:rPr>
              <a:t>   →   </a:t>
            </a:r>
            <a:r>
              <a:rPr lang="ko-KR" sz="1500" b="1" dirty="0">
                <a:solidFill>
                  <a:srgbClr val="059669"/>
                </a:solidFill>
                <a:latin typeface="Malgun Gothic"/>
                <a:ea typeface="Malgun Gothic"/>
              </a:rPr>
              <a:t>Episode: 18:34 / 정체·병목 / OHT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502920" y="2788920"/>
            <a:ext cx="11155680" cy="29260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카테고리 6종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fault / action / recovery / rollback / cancel / normal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장애유형 7종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정체·병목 / 브릿지 / 리프터 / CNV / MLUD / 통신·에러 / 기타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Episode 묶기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장애 1건에 여러 채팅 = 1건으로 (거품 제거)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제외 처리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orphan(선행 fault 없는 복구), CAPA변경(운영자 조치)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502920" y="5806440"/>
            <a:ext cx="11155680" cy="731520"/>
          </a:xfrm>
          <a:prstGeom prst="rect">
            <a:avLst/>
          </a:prstGeom>
          <a:solidFill>
            <a:srgbClr val="F3F4F6"/>
          </a:solidFill>
        </p:spPr>
        <p:txBody>
          <a:bodyPr wrap="square" anchor="t" lIns="91440" tIns="45720" rIns="91440" bIns="45720">
            <a:norm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lang="ko-KR" sz="1500" b="1" dirty="0">
                <a:solidFill>
                  <a:srgbClr val="1F2937"/>
                </a:solidFill>
                <a:latin typeface="Malgun Gothic"/>
                <a:ea typeface="Malgun Gothic"/>
              </a:rPr>
              <a:t>효과: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메신저 62건 메시지 → 실제 장애 4건(예시 5/25). 과대 카운트 제거로 룰베이스 성능을 정확히 측정.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3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937"/>
          </a:solidFill>
        </p:spPr>
        <p:txBody>
          <a:bodyPr/>
          <a:lstStyle/>
          <a:p/>
        </p:txBody>
      </p:sp>
      <p:sp>
        <p:nvSpPr>
          <p:cNvPr id="31" name="tb31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600" b="1" dirty="0">
                <a:solidFill>
                  <a:srgbClr val="FFFFFF"/>
                </a:solidFill>
                <a:latin typeface="Malgun Gothic"/>
                <a:ea typeface="Malgun Gothic"/>
              </a:rPr>
              <a:t>3. 리프터 주변 HID 파악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2563EB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sz="1500" dirty="0">
                <a:solidFill>
                  <a:srgbClr val="6B7280"/>
                </a:solidFill>
                <a:latin typeface="Malgun Gothic"/>
                <a:ea typeface="Malgun Gothic"/>
              </a:rPr>
              <a:t>R-C 룰(리프터 </a:t>
            </a:r>
            <a:r>
              <a:rPr lang="ko-KR" sz="1500" b="1" dirty="0">
                <a:solidFill>
                  <a:srgbClr val="111827"/>
                </a:solidFill>
                <a:latin typeface="Malgun Gothic"/>
                <a:ea typeface="Malgun Gothic"/>
              </a:rPr>
              <a:t>역증가</a:t>
            </a:r>
            <a:r>
              <a:rPr lang="ko-KR" sz="1500" dirty="0">
                <a:solidFill>
                  <a:srgbClr val="6B7280"/>
                </a:solidFill>
                <a:latin typeface="Malgun Gothic"/>
                <a:ea typeface="Malgun Gothic"/>
              </a:rPr>
              <a:t> 감지)이 단순 카운트를 넘어 </a:t>
            </a: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문제 리프터를 개별 ID로 특정.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502920" y="1920240"/>
            <a:ext cx="11155680" cy="2743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감지 신호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M16HUB 리프터 역증가 개수(rev_count) + 20분 트렌드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개별 HID 파악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rev_lids = 역증가 리프터 ID 목록</a:t>
            </a:r>
          </a:p>
          <a:p>
            <a:pPr marL="228600" indent="-22860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임계  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역증가 ≥ 4개 → R-C 발동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502920" y="4114800"/>
            <a:ext cx="11155680" cy="777240"/>
          </a:xfrm>
          <a:prstGeom prst="rect">
            <a:avLst/>
          </a:prstGeom>
          <a:solidFill>
            <a:srgbClr val="F3F4F6"/>
          </a:solidFill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500" b="1" dirty="0">
                <a:solidFill>
                  <a:srgbClr val="1F2937"/>
                </a:solidFill>
                <a:latin typeface="Malgun Gothic"/>
                <a:ea typeface="Malgun Gothic"/>
              </a:rPr>
              <a:t>실측 예시:  </a:t>
            </a:r>
            <a:r>
              <a:rPr lang="ko-KR" sz="1500" b="1" dirty="0">
                <a:solidFill>
                  <a:srgbClr val="DC2626"/>
                </a:solidFill>
                <a:latin typeface="Malgun Gothic"/>
                <a:ea typeface="Malgun Gothic"/>
              </a:rPr>
              <a:t>역증가 5개 → 6ABL6021, 6ABL6031, 6ABL6032, 6ABL0112, 6ABL0121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502920" y="5166360"/>
            <a:ext cx="11155680" cy="118872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250"/>
              </a:spcAft>
              <a:buNone/>
            </a:pPr>
            <a:r>
              <a:rPr lang="ko-KR" sz="1600" b="1" dirty="0">
                <a:solidFill>
                  <a:srgbClr val="1F2937"/>
                </a:solidFill>
                <a:latin typeface="Malgun Gothic"/>
                <a:ea typeface="Malgun Gothic"/>
              </a:rPr>
              <a:t>활용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"리프터 정체" 막연한 알람이 아니라 </a:t>
            </a:r>
            <a:r>
              <a:rPr lang="ko-KR" sz="1500" b="1" dirty="0">
                <a:solidFill>
                  <a:srgbClr val="2563EB"/>
                </a:solidFill>
                <a:latin typeface="Malgun Gothic"/>
                <a:ea typeface="Malgun Gothic"/>
              </a:rPr>
              <a:t>어느 리프터(HID)가 문제인지 즉시 지목</a:t>
            </a:r>
            <a:r>
              <a:rPr lang="ko-KR" sz="1500" dirty="0">
                <a:solidFill>
                  <a:srgbClr val="111827"/>
                </a:solidFill>
                <a:latin typeface="Malgun Gothic"/>
                <a:ea typeface="Malgun Gothic"/>
              </a:rPr>
              <a:t> → 해당 설비만 점검. (분석도구: 한줄분석 / 웹분석기 / LLM 스킬 연동)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3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937"/>
          </a:solidFill>
        </p:spPr>
        <p:txBody>
          <a:bodyPr/>
          <a:lstStyle/>
          <a:p/>
        </p:txBody>
      </p:sp>
      <p:sp>
        <p:nvSpPr>
          <p:cNvPr id="38" name="tb38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600" b="1" dirty="0">
                <a:solidFill>
                  <a:srgbClr val="FFFFFF"/>
                </a:solidFill>
                <a:latin typeface="Malgun Gothic"/>
                <a:ea typeface="Malgun Gothic"/>
              </a:rPr>
              <a:t>종합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2563E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502920" y="1371600"/>
            <a:ext cx="11155680" cy="2743200"/>
          </a:xfrm>
          <a:prstGeom prst="rect">
            <a:avLst/>
          </a:prstGeom>
          <a:solidFill>
            <a:srgbClr val="1F2937"/>
          </a:solidFill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/>
                <a:ea typeface="Malgun Gothic"/>
              </a:rPr>
              <a:t>작업</a:t>
            </a:r>
            <a:r>
              <a:rPr lang="ko-KR" sz="1500" b="1" dirty="0">
                <a:solidFill>
                  <a:srgbClr val="FFFFFF"/>
                </a:solidFill>
                <a:latin typeface="Malgun Gothic"/>
                <a:ea typeface="Malgun Gothic"/>
              </a:rPr>
              <a:t>                          산출물</a:t>
            </a:r>
            <a:r>
              <a:rPr lang="ko-KR" sz="1500" b="1" dirty="0">
                <a:solidFill>
                  <a:srgbClr val="FFFFFF"/>
                </a:solidFill>
                <a:latin typeface="Malgun Gothic"/>
                <a:ea typeface="Malgun Gothic"/>
              </a:rPr>
              <a:t>                                          상태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640080" y="1874519"/>
            <a:ext cx="10972800" cy="2743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  <a:buNone/>
            </a:pPr>
            <a:r>
              <a:rPr lang="ko-KR" sz="1500" b="1" dirty="0">
                <a:solidFill>
                  <a:srgbClr val="111827"/>
                </a:solidFill>
                <a:latin typeface="Malgun Gothic"/>
                <a:ea typeface="Malgun Gothic"/>
              </a:rPr>
              <a:t>룰베이스 고도화</a:t>
            </a:r>
            <a:r>
              <a:rPr lang="ko-KR" sz="1450" dirty="0">
                <a:solidFill>
                  <a:srgbClr val="6B7280"/>
                </a:solidFill>
                <a:latin typeface="Malgun Gothic"/>
                <a:ea typeface="Malgun Gothic"/>
              </a:rPr>
              <a:t>        hubroom_predictor.py v6 (5등급·진동흡수·유형라벨)</a:t>
            </a:r>
            <a:r>
              <a:rPr lang="ko-KR" sz="1450" b="1" dirty="0">
                <a:solidFill>
                  <a:srgbClr val="059669"/>
                </a:solidFill>
                <a:latin typeface="Malgun Gothic"/>
                <a:ea typeface="Malgun Gothic"/>
              </a:rPr>
              <a:t>     ✅ 검증완료</a:t>
            </a:r>
          </a:p>
          <a:p>
            <a:pPr>
              <a:lnSpc>
                <a:spcPct val="110000"/>
              </a:lnSpc>
              <a:spcAft>
                <a:spcPts val="450"/>
              </a:spcAft>
              <a:buNone/>
            </a:pPr>
            <a:r>
              <a:rPr lang="ko-KR" sz="1500" b="1" dirty="0">
                <a:solidFill>
                  <a:srgbClr val="111827"/>
                </a:solidFill>
                <a:latin typeface="Malgun Gothic"/>
                <a:ea typeface="Malgun Gothic"/>
              </a:rPr>
              <a:t>운영로그 파서</a:t>
            </a:r>
            <a:r>
              <a:rPr lang="ko-KR" sz="1450" dirty="0">
                <a:solidFill>
                  <a:srgbClr val="6B7280"/>
                </a:solidFill>
                <a:latin typeface="Malgun Gothic"/>
                <a:ea typeface="Malgun Gothic"/>
              </a:rPr>
              <a:t>           운영로그_파서_v2.py (정답지 생성)</a:t>
            </a:r>
            <a:r>
              <a:rPr lang="ko-KR" sz="1450" b="1" dirty="0">
                <a:solidFill>
                  <a:srgbClr val="059669"/>
                </a:solidFill>
                <a:latin typeface="Malgun Gothic"/>
                <a:ea typeface="Malgun Gothic"/>
              </a:rPr>
              <a:t>                          ✅ 적용</a:t>
            </a:r>
          </a:p>
          <a:p>
            <a:pPr>
              <a:lnSpc>
                <a:spcPct val="110000"/>
              </a:lnSpc>
              <a:spcAft>
                <a:spcPts val="450"/>
              </a:spcAft>
              <a:buNone/>
            </a:pPr>
            <a:r>
              <a:rPr lang="ko-KR" sz="1500" b="1" dirty="0">
                <a:solidFill>
                  <a:srgbClr val="111827"/>
                </a:solidFill>
                <a:latin typeface="Malgun Gothic"/>
                <a:ea typeface="Malgun Gothic"/>
              </a:rPr>
              <a:t>리프터 HID 파악</a:t>
            </a:r>
            <a:r>
              <a:rPr lang="ko-KR" sz="1450" dirty="0">
                <a:solidFill>
                  <a:srgbClr val="6B7280"/>
                </a:solidFill>
                <a:latin typeface="Malgun Gothic"/>
                <a:ea typeface="Malgun Gothic"/>
              </a:rPr>
              <a:t>        R-C 룰 rev_lids 개별 ID + 분석도구</a:t>
            </a:r>
            <a:r>
              <a:rPr lang="ko-KR" sz="1450" b="1" dirty="0">
                <a:solidFill>
                  <a:srgbClr val="059669"/>
                </a:solidFill>
                <a:latin typeface="Malgun Gothic"/>
                <a:ea typeface="Malgun Gothic"/>
              </a:rPr>
              <a:t>                  ✅ 운영중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solidFill>
            <a:srgbClr val="F3F4F6"/>
          </a:solidFill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250"/>
              </a:spcAft>
              <a:buNone/>
            </a:pPr>
            <a:r>
              <a:rPr lang="ko-KR" sz="1700" b="1" dirty="0">
                <a:solidFill>
                  <a:srgbClr val="1F2937"/>
                </a:solidFill>
                <a:latin typeface="Malgun Gothic"/>
                <a:ea typeface="Malgun Gothic"/>
              </a:rPr>
              <a:t>핵심 성과</a:t>
            </a:r>
          </a:p>
          <a:p>
            <a:pPr algn="ctr">
              <a:spcAft>
                <a:spcPts val="400"/>
              </a:spcAft>
              <a:buNone/>
            </a:pPr>
            <a:r>
              <a:rPr lang="ko-KR" sz="1600" b="1" dirty="0">
                <a:solidFill>
                  <a:srgbClr val="2563EB"/>
                </a:solidFill>
                <a:latin typeface="Malgun Gothic"/>
                <a:ea typeface="Malgun Gothic"/>
              </a:rPr>
              <a:t>메신저보다 30~60분 빠른 예측</a:t>
            </a:r>
            <a:r>
              <a:rPr lang="ko-KR" sz="1600" dirty="0">
                <a:solidFill>
                  <a:srgbClr val="6B7280"/>
                </a:solidFill>
                <a:latin typeface="Malgun Gothic"/>
                <a:ea typeface="Malgun Gothic"/>
              </a:rPr>
              <a:t>   ·   </a:t>
            </a:r>
            <a:r>
              <a:rPr lang="ko-KR" sz="1600" b="1" dirty="0">
                <a:solidFill>
                  <a:srgbClr val="059669"/>
                </a:solidFill>
                <a:latin typeface="Malgun Gothic"/>
                <a:ea typeface="Malgun Gothic"/>
              </a:rPr>
              <a:t>위험 등급 정밀도 75%</a:t>
            </a:r>
            <a:r>
              <a:rPr lang="ko-KR" sz="1600" dirty="0">
                <a:solidFill>
                  <a:srgbClr val="6B7280"/>
                </a:solidFill>
                <a:latin typeface="Malgun Gothic"/>
                <a:ea typeface="Malgun Gothic"/>
              </a:rPr>
              <a:t>   ·   </a:t>
            </a:r>
            <a:r>
              <a:rPr lang="ko-KR" sz="1600" b="1" dirty="0">
                <a:solidFill>
                  <a:srgbClr val="DC2626"/>
                </a:solidFill>
                <a:latin typeface="Malgun Gothic"/>
                <a:ea typeface="Malgun Gothic"/>
              </a:rPr>
              <a:t>문제 설비 HID 단위 지목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59669"/>
      </a:accent2>
      <a:accent3>
        <a:srgbClr val="DC2626"/>
      </a:accent3>
      <a:accent4>
        <a:srgbClr val="F59E0B"/>
      </a:accent4>
      <a:accent5>
        <a:srgbClr val="8B5CF6"/>
      </a:accent5>
      <a:accent6>
        <a:srgbClr val="EC4899"/>
      </a:accent6>
      <a:hlink>
        <a:srgbClr val="2563EB"/>
      </a:hlink>
      <a:folHlink>
        <a:srgbClr val="6B7280"/>
      </a:folHlink>
    </a:clrScheme>
    <a:fontScheme name="Custom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M16A HUBROOM 작업 보고</dc:title>
  <dc:creator>Rulebase v6</dc:creator>
  <cp:lastModifiedBy>Rulebase v6</cp:lastModifiedBy>
  <dcterms:created xsi:type="dcterms:W3CDTF">2026-06-16T00:00:00Z</dcterms:created>
  <dcterms:modified xsi:type="dcterms:W3CDTF">2026-06-16T00:00:00Z</dcterms:modified>
</cp:coreProperties>
</file>